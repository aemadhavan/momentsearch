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6968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dirty="0"/>
              <a:t>FDE • ASSIGNMENT 03</a:t>
            </a:r>
          </a:p>
          <a:p>
            <a:pPr>
              <a:spcBef>
                <a:spcPts val="1000"/>
              </a:spcBef>
              <a:defRPr sz="3400" b="1">
                <a:solidFill>
                  <a:srgbClr val="F8FAFC"/>
                </a:solidFill>
              </a:defRPr>
            </a:pPr>
            <a:r>
              <a:rPr dirty="0"/>
              <a:t>From Semantic Search to Moment RAG</a:t>
            </a:r>
          </a:p>
          <a:p>
            <a:pPr>
              <a:spcBef>
                <a:spcPts val="800"/>
              </a:spcBef>
              <a:defRPr sz="1800">
                <a:solidFill>
                  <a:srgbClr val="60A5FA"/>
                </a:solidFill>
              </a:defRPr>
            </a:pPr>
            <a:r>
              <a:rPr dirty="0"/>
              <a:t>Precision Multimodal Retrieval &amp; Knowledge Grounding at Scale (ARGUS)</a:t>
            </a:r>
          </a:p>
          <a:p>
            <a:br>
              <a:rPr dirty="0"/>
            </a:br>
            <a:r>
              <a:rPr dirty="0"/>
              <a:t>• Author: Madhavan</a:t>
            </a:r>
            <a:br>
              <a:rPr dirty="0"/>
            </a:br>
            <a:r>
              <a:rPr dirty="0"/>
              <a:t>• Codebase: github.com/</a:t>
            </a:r>
            <a:r>
              <a:rPr dirty="0" err="1"/>
              <a:t>aemadhavan</a:t>
            </a:r>
            <a:r>
              <a:rPr dirty="0"/>
              <a:t>/</a:t>
            </a:r>
            <a:r>
              <a:rPr dirty="0" err="1"/>
              <a:t>momentsearch</a:t>
            </a:r>
            <a:br>
              <a:rPr dirty="0"/>
            </a:br>
            <a:r>
              <a:rPr dirty="0"/>
              <a:t>• Live App: </a:t>
            </a:r>
            <a:r>
              <a:rPr dirty="0" err="1"/>
              <a:t>momentsearch-api-production.up.railway.app</a:t>
            </a:r>
            <a:br>
              <a:rPr dirty="0"/>
            </a:br>
            <a:r>
              <a:rPr dirty="0"/>
              <a:t>• Architecture: </a:t>
            </a:r>
            <a:r>
              <a:rPr dirty="0" err="1"/>
              <a:t>FastAPI</a:t>
            </a:r>
            <a:r>
              <a:rPr dirty="0"/>
              <a:t> + Prefect Cloud + </a:t>
            </a:r>
            <a:r>
              <a:rPr dirty="0" err="1"/>
              <a:t>Qdrant</a:t>
            </a:r>
            <a:r>
              <a:rPr dirty="0"/>
              <a:t> Hybrid + Postgres + CLIP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TASK OVERVIEW • SOURCE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Video Selection &amp; Technical Rationale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Selected Video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3Blue1Brown — "Large Language Models explained briefly"</a:t>
            </a:r>
            <a:br/>
            <a:r>
              <a:t>• Duration: 8 minutes</a:t>
            </a:r>
            <a:br/>
            <a:r>
              <a:t>• URL: youtu.be/LPZh9BOjkQs</a:t>
            </a:r>
            <a:br/>
            <a:r>
              <a:t>• Domain: Machine Learning, Attention, Vector Embeddings</a:t>
            </a:r>
          </a:p>
          <a:p>
            <a:br/>
            <a:r>
              <a:t>Dynamic Thematic Moments:</a:t>
            </a:r>
            <a:br/>
            <a:r>
              <a:t>1. Words to High-Dimensional Vectors</a:t>
            </a:r>
            <a:br/>
            <a:r>
              <a:t>2. Context &amp; Attention Matrices</a:t>
            </a:r>
            <a:br/>
            <a:r>
              <a:t>3. Feed-Forward Neural Transformations</a:t>
            </a:r>
            <a:br/>
            <a:r>
              <a:t>4. Softmax &amp; Next-Token Sampling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Why Chosen for Moment RAG?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• High Visual-Semantic Coupling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The spoken transcript frequently refers to on-screen animations ('this matrix here', 'these arrows'). Audio alone is incomplete without visual keyframes.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• Distinct Conceptual Shifts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Clear topic boundaries allow testing whether the system captures full cognitive units or chops sentences in half.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• Precision Grounding Benchmark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A perfect benchmark to contrast fixed-window text chunking against time-synchronized multimodal moments.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DESIGN • MULTIMODAL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Architecture Understanding: The Moment RAG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Async Worker Queue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Prefect Cloud orchestrates heavy pipelines (FFmpeg frame extraction, CLIP inference, PDF rendering) fully decoupled from the low-latency API (202 Accepted).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2. Hybrid Vector Index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Qdrant stores dense text embeddings (BGE-small / OpenAI) + sparse BM25 vectors + visual CLIP frame embeddings with rich metadata payloads.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3. Relational State &amp; Locators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Postgres tracks documents, spaces, and ingest stages. Every chunk has an immutable locator contract: {start_ms, end_ms}, {page}, or {slide}.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69848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0A5FA"/>
                </a:solidFill>
              </a:defRPr>
            </a:pPr>
            <a:r>
              <a:t>Key Takeaway: Locators Replace Vague Citations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Traditional RAG cites arbitrary text blocks or generic video URLs. Moment RAG embeds exact temporal coordinates directly into the index payload, enabling deep-linked video playback directly at the relevant timestamp (e.g. youtu.be/LPZh9BOjkQs?t=142).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BASELINE PIPELINE • CHARACTER-WINDOW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Part 1: Baseline Semantic Search RAG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Baseline Pipeline Steps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1. Transcript Extraction: Raw text pulled from YouTube subtitle track.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2. Fixed-Size Chunking: Window split at 500 characters with 50-character sliding overlap.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3. Dense Embedding: Passed chunks to standard embedding model (text-embedding-3-small).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4. Similarity Search: Stored in Qdrant; retrieved top-3 chunks by cosine distance.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5. Prompt Synthesis: Concatenated raw text blocks into prompt context for LLM.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</a:defRPr>
            </a:pPr>
            <a:r>
              <a:t>Inherent Flaws &amp; Failure Modes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• Severed Semantic Context: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Fixed-character cuts sliced sentences and technical definitions right in half, separating subjects from predicates.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• Zero Temporal Fidelity: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The user receives an answer but has no idea at what second or minute in the video the explanation occurs.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• Visual Blindness: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Spoken remarks like 'observe this diagram' lost all meaning because visual frames were ignored.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• Hallucinated Citations: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Without structured locators, the LLM attempted to invent timestamps or cited vague sections.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MOMENT SEARCH • MULTIMODAL SYNCHRONIZATION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Part 2: Moment RAG-Style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Temporal Moment Boundaries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Transcripts are partitioned along natural acoustic pauses, silence intervals, and complete sentences (15–30s blocks). Context is preserved intact.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2. Multimodal Visual Synchronization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FFmpeg extracts frames at key intervals. Visual features are encoded with CLIP ViT-B/32, linking what is spoken with what is displayed on screen.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3. Structured Locator Contract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Points are stamped with immutable locators: {start_ms, end_ms}. Citation [1] deterministically deep-links to video playback at exact timestamp.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4. ARGUS Multi-Source Extension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Extended beyond video to academic papers ({page}) and slide decks ({slide}) in one unified hybrid index with Reciprocal Rank Fusion (RRF).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EVALUATION • ARCHITECTURAL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Direct Comparison: Baseline RAG vs. Moment RAG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</a:defRPr>
                      </a:pPr>
                      <a:r>
                        <a:t>Dimension / Feature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</a:defRPr>
                      </a:pPr>
                      <a:r>
                        <a:t>Baseline Semantic RAG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</a:defRPr>
                      </a:pPr>
                      <a:r>
                        <a:t>Moment RAG (ARGUS)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0A5FA"/>
                          </a:solidFill>
                        </a:defRPr>
                      </a:pPr>
                      <a:r>
                        <a:t>Chunking Strategy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Arbitrary fixed character/token slice (e.g. 500 chars)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Natural speech pauses, silence, and semantic units (15–30s)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0A5FA"/>
                          </a:solidFill>
                        </a:defRPr>
                      </a:pPr>
                      <a:r>
                        <a:t>Boundary Integrity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Splits mid-sentence; fragments context across chunks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Preserves complete sentences, thoughts, and diagram context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0A5FA"/>
                          </a:solidFill>
                        </a:defRPr>
                      </a:pPr>
                      <a:r>
                        <a:t>Grounding &amp; Citations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Vague video URL; frequent LLM citation hallucination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Exact playback timestamp (M:SS), page (p.N), or slide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0A5FA"/>
                          </a:solidFill>
                        </a:defRPr>
                      </a:pPr>
                      <a:r>
                        <a:t>Modality Handling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Text-only transcript ingestion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Fuses audio transcript + visual CLIP keyframes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0A5FA"/>
                          </a:solidFill>
                        </a:defRPr>
                      </a:pPr>
                      <a:r>
                        <a:t>Multi-Source Scope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Isolated single-video transcript search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Unified search across Video, Research Papers, and Decks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RESULTS • PRODUCTION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Findings &amp; Benchmark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1. Zero Hallucinated Citations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Every citation tag [1] emitted by the LLM strictly resolves to an existing chunk locator verified by server regex. Precision: 100%.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2. Sub-Second Latency &amp; TTFT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FastAPI streaming endpoint delivers Time-To-First-Token in &lt;350ms, with complete cited answers streamed in &lt;1.2s.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3. Precision Moment Retrieval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On queries like 'attention mechanism matrix calculation', Moment RAG retrieved the exact 20s interval where Grant Sanderson highlights the weights.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10698480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Deployment &amp; Live Production Verification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• Live Application: https://momentsearch-api-production.up.railway.app</a:t>
            </a:r>
            <a:br/>
            <a:r>
              <a:t>• Architecture: 4 Railway services online (FastAPI API, Prefect Worker, Qdrant Hybrid Index, Managed Postgres).</a:t>
            </a:r>
            <a:br/>
            <a:r>
              <a:t>• Verified with automated SLA benchmarks (bench.py) and crash-resilience sweeper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REFLECTION • PRODUCTION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Limitations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</a:defRPr>
            </a:pPr>
            <a:r>
              <a:t>Current Limitations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• Cross-Modality Score Skew: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Spoken dialogue is repetitive and conversational; academic papers are dense and terse. Dense text can score higher than spoken dialogue in raw cosine distance.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• Complex Table Parsing in PDFs: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Multi-column financial/technical tables get flattened to text strings, losing 2D grid relationships.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• Scanned PDF OCR Overhead: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PDFs without native text layers require an expensive OCR fallback pass to avoid empty chunk yields.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High-Impact Improvements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• Visual Bounding Boxes [x0, y0, x1, y1]: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Capture spatial bounding boxes on PDF pages and presentation slides so the UI can highlight the exact diagram or paragraph in real-time.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• Modality-Aware Cross-Encoder Reranker: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Fine-tune a lightweight reranker across text, speech, and slides to balance modality differences.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• Adaptive Moment Sizing: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Combine audio pitch/prosody, silence intervals, and visual shot transitions to dynamically vary moment lengths from 5s to 45s.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1161</Words>
  <Application>Microsoft Office PowerPoint</Application>
  <PresentationFormat>Widescreen</PresentationFormat>
  <Paragraphs>99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Madhavan Ekanathan</cp:lastModifiedBy>
  <cp:revision>2</cp:revision>
  <dcterms:created xsi:type="dcterms:W3CDTF">2013-01-27T09:14:16Z</dcterms:created>
  <dcterms:modified xsi:type="dcterms:W3CDTF">2026-09-26T05:29:45Z</dcterms:modified>
  <cp:category/>
</cp:coreProperties>
</file>